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4"/>
    <p:restoredTop sz="94610"/>
  </p:normalViewPr>
  <p:slideViewPr>
    <p:cSldViewPr snapToGrid="0" snapToObjects="1">
      <p:cViewPr>
        <p:scale>
          <a:sx n="112" d="100"/>
          <a:sy n="112" d="100"/>
        </p:scale>
        <p:origin x="200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480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/mnt/user-data/uploads/lorenz_attractor_3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572000" y="274320"/>
            <a:ext cx="429768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914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 Predicting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15087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Dynamics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65760" y="2103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Lorenz System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2788920"/>
            <a:ext cx="32004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36576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Machine Learning  ·  Final Project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3383280"/>
            <a:ext cx="1920240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 7"/>
          <p:cNvSpPr/>
          <p:nvPr/>
        </p:nvSpPr>
        <p:spPr>
          <a:xfrm>
            <a:off x="36576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 Simulation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14600" y="3383280"/>
            <a:ext cx="1920240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251460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MLP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3383280"/>
            <a:ext cx="1920240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66344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ODE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12280" y="3383280"/>
            <a:ext cx="1920240" cy="347472"/>
          </a:xfrm>
          <a:prstGeom prst="rect">
            <a:avLst/>
          </a:prstGeom>
          <a:solidFill>
            <a:srgbClr val="1B2B3A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81228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Lorenz System?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931920" cy="804672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11480" y="1197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Atmospheric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derived by Edward Lorenz (1963) as a simplified model of convective airflow — directly analogous to weather forecasting.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3931920" cy="804672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11480" y="2157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🦋  Chaotic Dynamics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perturbations in initial conditions lead to exponentially diverging trajectories — the butterfly effect.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3931920" cy="804672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11480" y="3118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Benchmark for SciML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well-studied testbed to evaluate how well ML methods can learn and predict physically governed systems.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023360"/>
            <a:ext cx="3931920" cy="804672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11480" y="4078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Key Question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neural networks learn the underlying dynamics — and how far into the future can they predict?</a:t>
            </a:r>
            <a:endParaRPr lang="en-US" sz="1000" dirty="0"/>
          </a:p>
        </p:txBody>
      </p:sp>
      <p:pic>
        <p:nvPicPr>
          <p:cNvPr id="18" name="Image 0" descr="/mnt/user-data/uploads/lorenz_attractor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051560"/>
            <a:ext cx="4389120" cy="35661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480560" y="45720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 Attractor — RK4 Ground Truth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Lorenz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Equations &amp; Parameters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06240" cy="2834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Equations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840480" cy="402336"/>
          </a:xfrm>
          <a:prstGeom prst="rect">
            <a:avLst/>
          </a:prstGeom>
          <a:solidFill>
            <a:srgbClr val="1B2B3A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dx/dt  =  σ(y − x)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3840480" cy="402336"/>
          </a:xfrm>
          <a:prstGeom prst="rect">
            <a:avLst/>
          </a:prstGeom>
          <a:solidFill>
            <a:srgbClr val="1B2B3A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57200" y="21305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dy/dt  =  x(ρ − z) − 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3840480" cy="402336"/>
          </a:xfrm>
          <a:prstGeom prst="rect">
            <a:avLst/>
          </a:prstGeom>
          <a:solidFill>
            <a:srgbClr val="1B2B3A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6609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dz/dt  =  xy − βz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218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Parameters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1188720" cy="36576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10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6758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Prandtl number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83080" y="3474720"/>
            <a:ext cx="1188720" cy="36576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783080" y="3474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28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36758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Rayleigh number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08960" y="3474720"/>
            <a:ext cx="1188720" cy="36576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108960" y="3474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8/3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36758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factor</a:t>
            </a:r>
            <a:endParaRPr lang="en-US" sz="800" dirty="0"/>
          </a:p>
        </p:txBody>
      </p:sp>
      <p:pic>
        <p:nvPicPr>
          <p:cNvPr id="24" name="Image 0" descr="/mnt/user-data/uploads/lorenz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4114800" cy="22860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75488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 Effect: two trajectories starting 10⁻⁵ apart diverge after t ≈ 20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0" y="3886200"/>
            <a:ext cx="1280160" cy="548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4754880" y="39044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754880" y="4133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Convective intensity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144768" y="3886200"/>
            <a:ext cx="1280160" cy="548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6144768" y="39044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144768" y="4133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ΔT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534656" y="3886200"/>
            <a:ext cx="1280160" cy="548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7534656" y="39044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7534656" y="4133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ΔT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Approaches Compared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numerical simulation to physics-informed learning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01168" y="1097280"/>
            <a:ext cx="2057400" cy="356616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01168" y="1097280"/>
            <a:ext cx="20574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92608" y="1261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92608" y="16642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" y="1984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Simulation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2258568"/>
            <a:ext cx="18745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92608" y="2340864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4th-order Runge-Kutta. Solves ODEs exactly given known equations. Provides the ground truth trajectory.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14016" y="1097280"/>
            <a:ext cx="2057400" cy="356616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414016" y="1097280"/>
            <a:ext cx="205740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505456" y="1261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05456" y="16642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05456" y="1984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Regression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05456" y="2258568"/>
            <a:ext cx="18745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505456" y="2340864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trained on (state → next state). No physics knowledge. Tests whether raw data is enough.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26864" y="1097280"/>
            <a:ext cx="2057400" cy="356616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626864" y="1097280"/>
            <a:ext cx="2057400" cy="10972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718304" y="1261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18304" y="16642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ODE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18304" y="1984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Dynamics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18304" y="2258568"/>
            <a:ext cx="18745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718304" y="2340864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dU/dt = fθ(U) and integrates forward. More principled — learns the vector field, not just transitions.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39712" y="1097280"/>
            <a:ext cx="2057400" cy="356616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839712" y="1097280"/>
            <a:ext cx="2057400" cy="109728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931152" y="1261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31152" y="16642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31152" y="1984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31152" y="2258568"/>
            <a:ext cx="18745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931152" y="2340864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Lorenz equations into the loss. Penalises physics violations. Uses Fourier features + two-stage training.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 reveals a different aspect of learning chaotic dynamics.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14300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20040" y="1143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METHOD 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RK4: Establishing Ground Truth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simulation with known equations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85039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3200400" cy="548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11480" y="14538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condition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73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(x₀, y₀, z₀) = (1, 1, 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3200400" cy="548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11480" y="21122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331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∈ [0, 50]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734056"/>
            <a:ext cx="3200400" cy="548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11480" y="27706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9900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Δt = 0.01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392424"/>
            <a:ext cx="3200400" cy="5486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steps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6484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5,000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114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RK4 trajectory serves as the reference for all ML methods.</a:t>
            </a:r>
            <a:endParaRPr lang="en-US" sz="1100" dirty="0"/>
          </a:p>
        </p:txBody>
      </p:sp>
      <p:pic>
        <p:nvPicPr>
          <p:cNvPr id="21" name="Image 0" descr="/mnt/user-data/uploads/lorenz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97280"/>
            <a:ext cx="5212080" cy="34747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657600" y="46177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 over t ∈ [0, 50] — chaotic switching between lobes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14300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20040" y="1143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METHOD 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MLP: Two Formulations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framing of the problem actually works?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85039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023360" cy="338328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402336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 → (x, y, z)  [FAILED]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scalar time directly to state.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collapses to predict the mean — chaotic mapping t ↦ (x,y,z) is not a learnable function.</a:t>
            </a:r>
            <a:endParaRPr lang="en-US" sz="1100" dirty="0"/>
          </a:p>
        </p:txBody>
      </p:sp>
      <p:pic>
        <p:nvPicPr>
          <p:cNvPr id="12" name="Image 0" descr="/mnt/user-data/uploads/pinn_four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78608"/>
            <a:ext cx="3749040" cy="20116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72000" y="1417320"/>
            <a:ext cx="4297680" cy="338328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572000" y="1417320"/>
            <a:ext cx="429768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70916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(x,y,z)ₙ → (x,y,z)ₙ₊₁  [WORKS]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09160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prediction: predict next 3 steps from current state.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3 hidden layers, 64 nodes, tanh — trained 2000 epochs.</a:t>
            </a:r>
            <a:endParaRPr lang="en-US" sz="1100" dirty="0"/>
          </a:p>
        </p:txBody>
      </p:sp>
      <p:pic>
        <p:nvPicPr>
          <p:cNvPr id="17" name="Image 1" descr="/mnt/user-data/uploads/nn_predi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578608"/>
            <a:ext cx="4114800" cy="20116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framing matters more than architecture.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14300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20040" y="1143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METHOD 03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ODE: Learning the Vector Field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dU/dt = fθ(U), then integrates forward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85039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8595360" cy="77724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1508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memorising transitions, learn the continuous dynamics. Given U(t₀), recover U(t₁) by integrating fθ numerically with RK45.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2926080" cy="210312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3 hidden layers [64, 256, 128], tanh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state (x, y, z)  →  Output: (ẋ, ẏ, ż)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window: t ∈ [0, 0.49]  (50 steps)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torchdiffeq RK45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3000, Adam lr = 10⁻³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14" name="Image 0" descr="/mnt/user-data/uploads/neural_ode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240280"/>
            <a:ext cx="5440680" cy="23774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Learns dynamics inside training window perfectly   ✗ Diverges rapidly outside — error amplification during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14300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20040" y="1143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METHOD 04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PINN: Physics-Informed Neural Network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the Lorenz equations into the training loss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85039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572000" cy="137160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𝓛 = 𝓛_data  +  λ · 𝓛_physics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0.0001  ·  derivatives via torch.autograd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572000" cy="178308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990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Training (key to convergence)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731520" cy="3200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only — 5000 epochs, lr = 10⁻³ with StepLR scheduler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04488"/>
            <a:ext cx="731520" cy="3200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9044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3904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Physics loss — 5000 epochs, lr = 10⁻⁴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training causes loss conflicts → sequential approach solves this.</a:t>
            </a:r>
            <a:endParaRPr lang="en-US" sz="900" dirty="0"/>
          </a:p>
        </p:txBody>
      </p:sp>
      <p:pic>
        <p:nvPicPr>
          <p:cNvPr id="21" name="Image 0" descr="/mnt/user-data/uploads/pinn_prediction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325880"/>
            <a:ext cx="3794760" cy="34747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74920" y="481888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t∈[0,10] → Predict t∈[10,50]</a:t>
            </a:r>
            <a:endParaRPr lang="en-US" sz="900" dirty="0"/>
          </a:p>
        </p:txBody>
      </p:sp>
      <p:pic>
        <p:nvPicPr>
          <p:cNvPr id="24" name="图片 23" descr="图表, 雷达图&#10;&#10;AI 生成的内容可能不正确。">
            <a:extLst>
              <a:ext uri="{FF2B5EF4-FFF2-40B4-BE49-F238E27FC236}">
                <a16:creationId xmlns:a16="http://schemas.microsoft.com/office/drawing/2014/main" id="{E7475B92-2EA6-24A4-B56E-2EC6AF5CE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17320"/>
            <a:ext cx="7772400" cy="33310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all four approaches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566928"/>
          </a:xfrm>
          <a:prstGeom prst="rect">
            <a:avLst/>
          </a:prstGeom>
          <a:solidFill>
            <a:srgbClr val="0077A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01752" y="115214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56232" y="115214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67912" y="11521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48072" y="11521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28232" y="11521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700784"/>
            <a:ext cx="8686800" cy="566928"/>
          </a:xfrm>
          <a:prstGeom prst="rect">
            <a:avLst/>
          </a:prstGeom>
          <a:solidFill>
            <a:srgbClr val="1B2B3A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01752" y="17739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56232" y="177393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integration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67912" y="177393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48072" y="177393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Exact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28232" y="17739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known equations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322576"/>
            <a:ext cx="8686800" cy="566928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9" name="Text 17"/>
          <p:cNvSpPr/>
          <p:nvPr/>
        </p:nvSpPr>
        <p:spPr>
          <a:xfrm>
            <a:off x="301752" y="23957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(t → xyz)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56232" y="23957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regression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67912" y="23957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48072" y="23957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Failed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28232" y="23957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mapping unlearnable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944368"/>
            <a:ext cx="8686800" cy="566928"/>
          </a:xfrm>
          <a:prstGeom prst="rect">
            <a:avLst/>
          </a:prstGeom>
          <a:solidFill>
            <a:srgbClr val="1B2B3A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01752" y="30175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(one-step)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56232" y="30175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prediction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67912" y="30175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Excellent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48072" y="30175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Degrades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28232" y="30175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accumulation in rollout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3566160"/>
            <a:ext cx="8686800" cy="566928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01752" y="36393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ODE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56232" y="36393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field learning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67912" y="36393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(in window)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48072" y="36393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Diverges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28232" y="36393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training window only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4187952"/>
            <a:ext cx="8686800" cy="566928"/>
          </a:xfrm>
          <a:prstGeom prst="rect">
            <a:avLst/>
          </a:prstGeom>
          <a:solidFill>
            <a:srgbClr val="1B2B3A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301752" y="426110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56232" y="42611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Physics-constrained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67912" y="42611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48072" y="42611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Partial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28232" y="426110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 effect still limits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method achieves reliable long-term prediction — this is a fundamental property of chaotic systems.</a:t>
            </a:r>
            <a:endParaRPr lang="en-US" sz="1050" dirty="0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326FE944-3C19-9C33-E8E3-A358B8C43988}"/>
              </a:ext>
            </a:extLst>
          </p:cNvPr>
          <p:cNvSpPr/>
          <p:nvPr/>
        </p:nvSpPr>
        <p:spPr>
          <a:xfrm>
            <a:off x="3856482" y="23957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Not the main idea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across methods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18288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64592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20624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84048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 framing is decisive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fails completely when asked to map t → state, but succeeds locally with one-step prediction. The choice of input/output matters more than architecture depth.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06240" cy="164592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206240" cy="7315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Continuous dynamics ≠ long-term accuracy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161848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ODE is conceptually principled — it learns the vector field directly. But chaotic error amplification during integration still causes rapid divergence outside the training window.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206240" cy="164592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206240" cy="73152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84048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Physics constraints improve structure, not perfection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44728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partially recovers attractor geometry beyond training data — something neither MLP nor Neural ODE achieves. But the butterfly effect cannot be eliminated by any method.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206240" cy="1645920"/>
          </a:xfrm>
          <a:prstGeom prst="rect">
            <a:avLst/>
          </a:prstGeom>
          <a:solidFill>
            <a:srgbClr val="162232"/>
          </a:solidFill>
          <a:ln w="12700">
            <a:solidFill>
              <a:srgbClr val="1E34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206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18888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🦋  The fundamental limit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344728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is the system itself, not the model choice. Any method that accumulates even microscopic errors in a chaotic regime will eventually diverge exponentially.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/mnt/user-data/uploads/lorenz_attractor_3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029200" y="182880"/>
            <a:ext cx="3931920" cy="4663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3657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54864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94360" y="10058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prediction of chaotic systems is tractable with the right method.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719072"/>
            <a:ext cx="54864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94360" y="17190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trajectory prediction remains fundamentally limited by the butterfly effect.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432304"/>
            <a:ext cx="54864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94360" y="243230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methods (PINN) recover more structure beyond training data.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145536"/>
            <a:ext cx="54864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94360" y="314553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two-stage training strategy and Fourier features were key engineering choices.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858768"/>
            <a:ext cx="54864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94360" y="385876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flexibility vs. physical consistency is the central trade-off.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4663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1054</Words>
  <Application>Microsoft Macintosh PowerPoint</Application>
  <PresentationFormat>全屏显示(16:9)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and Predicting Chaotic Dynamics of the Lorenz System</dc:title>
  <dc:subject>PptxGenJS Presentation</dc:subject>
  <dc:creator>PptxGenJS</dc:creator>
  <cp:lastModifiedBy>Keliang Wu</cp:lastModifiedBy>
  <cp:revision>7</cp:revision>
  <dcterms:created xsi:type="dcterms:W3CDTF">2026-03-12T21:17:27Z</dcterms:created>
  <dcterms:modified xsi:type="dcterms:W3CDTF">2026-03-13T20:20:59Z</dcterms:modified>
</cp:coreProperties>
</file>